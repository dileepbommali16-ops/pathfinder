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10362895" cy="5303520"/>
          </a:xfrm>
          <a:prstGeom prst="roundRect">
            <a:avLst/>
          </a:prstGeom>
          <a:solidFill>
            <a:srgbClr val="100E16"/>
          </a:solidFill>
          <a:ln w="1905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96313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>
                <a:solidFill>
                  <a:srgbClr val="FF1E56"/>
                </a:solidFill>
              </a:defRPr>
            </a:pPr>
            <a:r>
              <a:t>PATHFINDER 2.0</a:t>
            </a:r>
          </a:p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Autonomous Placement Intelligence, ML Eligibility Engine &amp; Multilingual Mentorship Platform</a:t>
            </a:r>
          </a:p>
          <a:p>
            <a:pPr algn="ctr">
              <a:defRPr sz="1200">
                <a:solidFill>
                  <a:srgbClr val="2E2034"/>
                </a:solidFill>
              </a:defRPr>
            </a:pPr>
            <a:r>
              <a:t>━━━━━━━━━━━━━━━━━━━━━━━━━━━━━━━━━━━━━━━━━━━━━━━━━━━</a:t>
            </a:r>
          </a:p>
          <a:p>
            <a:pPr algn="ctr">
              <a:defRPr sz="1200" b="1">
                <a:solidFill>
                  <a:srgbClr val="A855F7"/>
                </a:solidFill>
              </a:defRPr>
            </a:pPr>
            <a:r>
              <a:t>PRODUCTION BENCHMARKS &amp; VERIFIED METRICS</a:t>
            </a:r>
          </a:p>
          <a:p>
            <a:pPr algn="ctr">
              <a:defRPr sz="1400">
                <a:solidFill>
                  <a:srgbClr val="A1A1AA"/>
                </a:solidFill>
              </a:defRPr>
            </a:pPr>
            <a:r>
              <a:t>972 Verified Student Records across 9 Branches  |  88.2% Calibrated Random Forest Accuracy</a:t>
            </a:r>
            <a:br/>
            <a:r>
              <a:t>15 Specialized Architecture Tabs  |  23 Deployed Blueprints  |  Sub-15ms WAL Query Latency</a:t>
            </a:r>
          </a:p>
          <a:p>
            <a:br/>
            <a:pPr algn="ctr">
              <a:defRPr sz="1600" b="1">
                <a:solidFill>
                  <a:srgbClr val="FF1E56"/>
                </a:solidFill>
              </a:defRPr>
            </a:pPr>
            <a:r>
              <a:t>Lead Architect &amp; Full-Stack Systems Engineer: Dileep Bommali</a:t>
            </a:r>
          </a:p>
          <a:p>
            <a:pPr algn="ctr">
              <a:defRPr sz="1200">
                <a:solidFill>
                  <a:srgbClr val="A1A1AA"/>
                </a:solidFill>
              </a:defRPr>
            </a:pPr>
            <a:r>
              <a:t>Stack: React 19 • TypeScript • Python FastAPI • Scikit-Learn • Google Gemini 2.0 Flash • SQLite WAL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1E56"/>
                </a:solidFill>
              </a:defRPr>
            </a:pPr>
            <a:r>
              <a:t>PROBLEM STATEMENT &amp; QUANTITATIVE CRISIS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Industry-Academia Placement Disconnect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2E2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1A1AA"/>
                </a:solidFill>
              </a:defRPr>
            </a:pPr>
            <a:r>
              <a:t>Slide 02 / 10 • Pathfinder 2.0 • Lead Systems Engineer: Dileep Bommali • https://github.com/dileepbommali16-ops/pathfinder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120640" cy="214884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00200"/>
            <a:ext cx="46634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1E56"/>
                </a:solidFill>
              </a:defRPr>
            </a:pPr>
            <a:r>
              <a:t>CRISIS 01 • 64.8% Technical Filter Rejection</a:t>
            </a:r>
          </a:p>
          <a:p>
            <a:pPr>
              <a:defRPr sz="1300">
                <a:solidFill>
                  <a:srgbClr val="A1A1AA"/>
                </a:solidFill>
              </a:defRPr>
            </a:pPr>
            <a:r>
              <a:t>Over 64% of engineering graduates fail preliminary technical screenings due to outdated academic curriculum misaligned with real industry rubrics.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17320"/>
            <a:ext cx="5120640" cy="214884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6634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1E56"/>
                </a:solidFill>
              </a:defRPr>
            </a:pPr>
            <a:r>
              <a:t>CRISIS 02 • 82% Lack Production Blueprints</a:t>
            </a:r>
          </a:p>
          <a:p>
            <a:pPr>
              <a:defRPr sz="1300">
                <a:solidFill>
                  <a:srgbClr val="A1A1AA"/>
                </a:solidFill>
              </a:defRPr>
            </a:pPr>
            <a:r>
              <a:t>Students build superficial toy projects with zero live cloud deployments, containerization, or production-grade database schema architecture.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94760"/>
            <a:ext cx="5120640" cy="214884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977640"/>
            <a:ext cx="46634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1E56"/>
                </a:solidFill>
              </a:defRPr>
            </a:pPr>
            <a:r>
              <a:t>CRISIS 03 • 1 : 1,200 Placement Mentor Ratio</a:t>
            </a:r>
          </a:p>
          <a:p>
            <a:pPr>
              <a:defRPr sz="1300">
                <a:solidFill>
                  <a:srgbClr val="A1A1AA"/>
                </a:solidFill>
              </a:defRPr>
            </a:pPr>
            <a:r>
              <a:t>University career training cells cannot provide 24/7 personalized, line-by-line code reviews and system design grilling across thousands of students.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94760"/>
            <a:ext cx="5120640" cy="214884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977640"/>
            <a:ext cx="46634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1E56"/>
                </a:solidFill>
              </a:defRPr>
            </a:pPr>
            <a:r>
              <a:t>CRISIS 04 • 78% Late Skill-Gap Realization</a:t>
            </a:r>
          </a:p>
          <a:p>
            <a:pPr>
              <a:defRPr sz="1300">
                <a:solidFill>
                  <a:srgbClr val="A1A1AA"/>
                </a:solidFill>
              </a:defRPr>
            </a:pPr>
            <a:r>
              <a:t>Candidates discover critical aptitude and DSA deficiencies only in Semester 7/8, making it mathematically impossible to recover before recruitment drives.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1E56"/>
                </a:solidFill>
              </a:defRPr>
            </a:pPr>
            <a:r>
              <a:t>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Pathfinder 2.0: Autonomous Career Acceleration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2E2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1A1AA"/>
                </a:solidFill>
              </a:defRPr>
            </a:pPr>
            <a:r>
              <a:t>Slide 03 / 10 • Pathfinder 2.0 • Lead Systems Engineer: Dileep Bommali • https://github.com/dileepbommali16-ops/pathfinder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2560320" cy="470916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2194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PILLAR 01</a:t>
            </a:r>
          </a:p>
          <a:p>
            <a:pPr>
              <a:defRPr sz="1700" b="1">
                <a:solidFill>
                  <a:srgbClr val="FF1E56"/>
                </a:solidFill>
              </a:defRPr>
            </a:pPr>
            <a:r>
              <a:t>Predictive ML Calibration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Ingests 8 candidate dimensions (CGPA, LeetCode rank, Git commits, backlogs) to output placement probability (0-100%) and 4 salary compensation tiers.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417320"/>
            <a:ext cx="2560320" cy="470916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645920"/>
            <a:ext cx="2194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PILLAR 02</a:t>
            </a:r>
          </a:p>
          <a:p>
            <a:pPr>
              <a:defRPr sz="1700" b="1">
                <a:solidFill>
                  <a:srgbClr val="FF1E56"/>
                </a:solidFill>
              </a:defRPr>
            </a:pPr>
            <a:r>
              <a:t>Skill-Gap Radar Alignment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Compares student mastery vectors against live Tier-1 company benchmarks across 9 engineering disciplines (CSE, ECE, AI/ML, Cyber Security, etc.).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417320"/>
            <a:ext cx="2560320" cy="470916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645920"/>
            <a:ext cx="2194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PILLAR 03</a:t>
            </a:r>
          </a:p>
          <a:p>
            <a:pPr>
              <a:defRPr sz="1700" b="1">
                <a:solidFill>
                  <a:srgbClr val="FF1E56"/>
                </a:solidFill>
              </a:defRPr>
            </a:pPr>
            <a:r>
              <a:t>Multilingual Gemini Copilot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Generates personalized 6-phase adaptive study roadmaps with 24/7 real-time voice and text mentorship in both English and Telugu script.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417320"/>
            <a:ext cx="2560320" cy="470916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6840" y="1645920"/>
            <a:ext cx="2194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PILLAR 04</a:t>
            </a:r>
          </a:p>
          <a:p>
            <a:pPr>
              <a:defRPr sz="1700" b="1">
                <a:solidFill>
                  <a:srgbClr val="FF1E56"/>
                </a:solidFill>
              </a:defRPr>
            </a:pPr>
            <a:r>
              <a:t>Institutional Command Center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Empowers placement directors with cohort distribution heatmaps, 1-click ATS-optimized ReportLab PDF dossiers, and streaming CSV exports.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1E56"/>
                </a:solidFill>
              </a:defRPr>
            </a:pPr>
            <a:r>
              <a:t>TECHNICAL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Full-Stack System Architecture &amp; Data Pipelines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2E2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1A1AA"/>
                </a:solidFill>
              </a:defRPr>
            </a:pPr>
            <a:r>
              <a:t>Slide 04 / 10 • Pathfinder 2.0 • Lead Systems Engineer: Dileep Bommali • https://github.com/dileepbommali16-ops/pathfinder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429000" cy="470916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2971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FRONTEND CLIENT LAYER</a:t>
            </a:r>
          </a:p>
          <a:p>
            <a:pPr>
              <a:defRPr sz="1700" b="1">
                <a:solidFill>
                  <a:srgbClr val="FF1E56"/>
                </a:solidFill>
              </a:defRPr>
            </a:pPr>
            <a:r>
              <a:t>React 19 &amp; TypeScript Strict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Vite 7 lightning-fast bundler with dynamic chunking</a:t>
            </a:r>
            <a:br/>
            <a:r>
              <a:t>• Tailwind CSS v4 design system with custom CSS variables</a:t>
            </a:r>
            <a:br/>
            <a:r>
              <a:t>• Framer Motion physics for zero-layout-shift UI</a:t>
            </a:r>
            <a:br/>
            <a:r>
              <a:t>• 15 specialized spatial tabs with ThreeUI WebGL shaders</a:t>
            </a:r>
            <a:br/>
            <a:r>
              <a:t>• Zero runtime type errors (100% strict tsc verification)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429000" cy="470916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45920"/>
            <a:ext cx="2971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GATEWAY &amp; API LAYER</a:t>
            </a:r>
          </a:p>
          <a:p>
            <a:pPr>
              <a:defRPr sz="1700" b="1">
                <a:solidFill>
                  <a:srgbClr val="FF1E56"/>
                </a:solidFill>
              </a:defRPr>
            </a:pPr>
            <a:r>
              <a:t>Python FastAPI &amp; Asynchronous I/O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Fully asynchronous Python 3.11 ASGI event loop</a:t>
            </a:r>
            <a:br/>
            <a:r>
              <a:t>• Pydantic v2 schemas validating request/response DTOs</a:t>
            </a:r>
            <a:br/>
            <a:r>
              <a:t>• Strict JWT token lifecycle with revocation blacklist</a:t>
            </a:r>
            <a:br/>
            <a:r>
              <a:t>• Automated IDOR access defense returning 403 Forbidden</a:t>
            </a:r>
            <a:br/>
            <a:r>
              <a:t>• Sub-15ms median REST API endpoint response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417320"/>
            <a:ext cx="3429000" cy="470916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645920"/>
            <a:ext cx="2971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PERSISTENCE &amp; AI LAYER</a:t>
            </a:r>
          </a:p>
          <a:p>
            <a:pPr>
              <a:defRPr sz="1700" b="1">
                <a:solidFill>
                  <a:srgbClr val="FF1E56"/>
                </a:solidFill>
              </a:defRPr>
            </a:pPr>
            <a:r>
              <a:t>SQLite WAL &amp; Gemini 2.0 Flash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SQLite configured in Write-Ahead Logging (WAL) mode</a:t>
            </a:r>
            <a:br/>
            <a:r>
              <a:t>• PRAGMA synchronous = NORMAL for high concurrency</a:t>
            </a:r>
            <a:br/>
            <a:r>
              <a:t>• Scikit-learn pre-trained Random Forest model cache</a:t>
            </a:r>
            <a:br/>
            <a:r>
              <a:t>• Google Gemini 2.0 Flash LLM with prompt grounding</a:t>
            </a:r>
            <a:br/>
            <a:r>
              <a:t>• ReportLab automated PDF engine for instant dossiers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1E56"/>
                </a:solidFill>
              </a:defRPr>
            </a:pPr>
            <a:r>
              <a:t>MACHINE LEARNING MATHEMATICS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Quantitative ML Engine (88.2% Accuracy, 972 Records)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2E2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1A1AA"/>
                </a:solidFill>
              </a:defRPr>
            </a:pPr>
            <a:r>
              <a:t>Slide 05 / 10 • Pathfinder 2.0 • Lead Systems Engineer: Dileep Bommali • https://github.com/dileepbommali16-ops/pathfinder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120640" cy="4709160"/>
          </a:xfrm>
          <a:prstGeom prst="roundRect">
            <a:avLst/>
          </a:prstGeom>
          <a:solidFill>
            <a:srgbClr val="100E16"/>
          </a:solidFill>
          <a:ln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002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1E56"/>
                </a:solidFill>
              </a:defRPr>
            </a:pPr>
            <a:r>
              <a:t>8-Dimensional Input Vector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CGPA &amp; Academic Credits: Normalized university cumulative grade average.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Active Backlog Score: Exponential penalty for pending academic arrears.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DSA &amp; Algorithmic Rank: LeetCode/HackerRank solved count &amp; contest percentile.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Production Blueprints: Verified GitHub portfolios with live deployed URLs.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Hackathon Trophies: National-level hackathons (SIH, ICPC, TechFests).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Verified Internships: Tenure and tech-stack relevance of industry work.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Cloud Certifications: AWS Solutions Architect, GCP Associate, CKA.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Communication Rubric: Placement soft-skill and mock viva rubric score.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212080" cy="4709160"/>
          </a:xfrm>
          <a:prstGeom prst="roundRect">
            <a:avLst/>
          </a:prstGeom>
          <a:solidFill>
            <a:srgbClr val="100E16"/>
          </a:solidFill>
          <a:ln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60020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A855F7"/>
                </a:solidFill>
              </a:defRPr>
            </a:pPr>
            <a:r>
              <a:t>Calibrated Random Forest Classifier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Dataset: 972 verified student placement records across 9 branches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Ensemble: 120 decision trees with balanced class weighting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Evaluation: 88.2% Test Accuracy, 0.89 F1-Score, 0.91 AUC-ROC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Compensation Tiering: Stratifies into 4 distinct salary brackets:</a:t>
            </a:r>
            <a:br/>
            <a:r>
              <a:t>  - Tier 1: Core / Entry (3 - 6 LPA)</a:t>
            </a:r>
            <a:br/>
            <a:r>
              <a:t>  - Tier 2: Mid-Level Engineering (6 - 10 LPA)</a:t>
            </a:r>
            <a:br/>
            <a:r>
              <a:t>  - Tier 3: High-Growth Product (10 - 18 LPA)</a:t>
            </a:r>
            <a:br/>
            <a:r>
              <a:t>  - Tier 4: Tier-1 Tech Elite (18 - 35+ LPA)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Feature Importance: DSA problem count (31%) and Production projects (26%) dominate over pure CGPA (14%)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Latency: 42ms median CPU inference via pre-compiled joblib cache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1E56"/>
                </a:solidFill>
              </a:defRPr>
            </a:pPr>
            <a:r>
              <a:t>ADAPTIVE CURRICULUM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Automated 6-Phase Tactical Placement Sprints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2E2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1A1AA"/>
                </a:solidFill>
              </a:defRPr>
            </a:pPr>
            <a:r>
              <a:t>Slide 06 / 10 • Pathfinder 2.0 • Lead Systems Engineer: Dileep Bommali • https://github.com/dileepbommali16-ops/pathfinder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429000" cy="214884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1E56"/>
                </a:solidFill>
              </a:defRPr>
            </a:pPr>
            <a:r>
              <a:t>Phase 01: Core Algorithmic Mastery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Time/space complexity analysis, arrays, strings, two-pointer techniques, recursion, and initial 50 LeetCode Easy/Medium milestones.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429000" cy="214884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600200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1E56"/>
                </a:solidFill>
              </a:defRPr>
            </a:pPr>
            <a:r>
              <a:t>Phase 02: Advanced Data Structures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Trees, Graphs, BFS/DFS traversals, Dynamic Programming memoization, Trie structures, and priority queues.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417320"/>
            <a:ext cx="3429000" cy="214884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600200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1E56"/>
                </a:solidFill>
              </a:defRPr>
            </a:pPr>
            <a:r>
              <a:t>Phase 03: Production Backend Engineering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RESTful API design, database normalization, indexing strategies, connection pooling, and JWT authorization.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429000" cy="214884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77640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1E56"/>
                </a:solidFill>
              </a:defRPr>
            </a:pPr>
            <a:r>
              <a:t>Phase 04: System Architecture &amp; Blueprints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Microservices, caching with Redis, message queues (Kafka), Docker containerization, and cloud deployment pipelines.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3794760"/>
            <a:ext cx="3429000" cy="214884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977640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1E56"/>
                </a:solidFill>
              </a:defRPr>
            </a:pPr>
            <a:r>
              <a:t>Phase 05: Mock Viva Defense &amp; Grilling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Simulating high-pressure system design interviews, failure recovery scenarios, trade-off defenses, and DSA speed tests.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80" y="3794760"/>
            <a:ext cx="3429000" cy="214884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3977640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1E56"/>
                </a:solidFill>
              </a:defRPr>
            </a:pPr>
            <a:r>
              <a:t>Phase 06: Recruitment Acceleration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ATS resume optimization, GitHub portfolio refinement, LinkedIn targeting, and high-conversion cold outreach campaigns.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1E56"/>
                </a:solidFill>
              </a:defRPr>
            </a:pPr>
            <a:r>
              <a:t>AI MENTORSHIP &amp; INTERVIEW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Screen-Aware Bilingual AI Coach &amp; Defense Simulator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2E2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1A1AA"/>
                </a:solidFill>
              </a:defRPr>
            </a:pPr>
            <a:r>
              <a:t>Slide 07 / 10 • Pathfinder 2.0 • Lead Systems Engineer: Dileep Bommali • https://github.com/dileepbommali16-ops/pathfinder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429000" cy="470916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2971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855F7"/>
                </a:solidFill>
              </a:defRPr>
            </a:pPr>
            <a:r>
              <a:t>CONTEXT-SYNCHRONIZED MENTORSHIP</a:t>
            </a:r>
          </a:p>
          <a:p>
            <a:pPr>
              <a:defRPr sz="1700" b="1">
                <a:solidFill>
                  <a:srgbClr val="FF1E56"/>
                </a:solidFill>
              </a:defRPr>
            </a:pPr>
            <a:r>
              <a:t>Live UI State Awareness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The AI mentor continuously reads live telemetry from the student's active UI — ingesting exact CGPA, pending backlogs, target role, and ML placement gauge percentage to mentor with concrete numbers instead of generic advice.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429000" cy="470916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45920"/>
            <a:ext cx="2971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855F7"/>
                </a:solidFill>
              </a:defRPr>
            </a:pPr>
            <a:r>
              <a:t>ELIMINATING REGIONAL LANGUAGE BARRIERS</a:t>
            </a:r>
          </a:p>
          <a:p>
            <a:pPr>
              <a:defRPr sz="1700" b="1">
                <a:solidFill>
                  <a:srgbClr val="FF1E56"/>
                </a:solidFill>
              </a:defRPr>
            </a:pPr>
            <a:r>
              <a:t>Bilingual Mentorship (English + Telugu)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Full technical mentorship in fluent English, native Telugu script, and conversational Roman Telugu. Explains complex distributed systems, memory heaps, and tree traversals without linguistic intimidation.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417320"/>
            <a:ext cx="3429000" cy="470916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645920"/>
            <a:ext cx="2971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855F7"/>
                </a:solidFill>
              </a:defRPr>
            </a:pPr>
            <a:r>
              <a:t>HIGH-PRESSURE MOCK INTERVIEW GRILLING</a:t>
            </a:r>
          </a:p>
          <a:p>
            <a:pPr>
              <a:defRPr sz="1700" b="1">
                <a:solidFill>
                  <a:srgbClr val="FF1E56"/>
                </a:solidFill>
              </a:defRPr>
            </a:pPr>
            <a:r>
              <a:t>Viva Defense Simulator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Interrogates candidates on architectural choices, database locking, edge cases, and scaling bottlenecks in their portfolio projects, preparing them thoroughly for rigorous viva panels and technical rounds.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1E56"/>
                </a:solidFill>
              </a:defRPr>
            </a:pPr>
            <a:r>
              <a:t>PORTFOLIO ENGINEERING &amp; HARDWARE SIH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Enterprise Project Studio: 23 Production Blueprints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2E2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1A1AA"/>
                </a:solidFill>
              </a:defRPr>
            </a:pPr>
            <a:r>
              <a:t>Slide 08 / 10 • Pathfinder 2.0 • Lead Systems Engineer: Dileep Bommali • https://github.com/dileepbommali16-ops/pathfinder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429000" cy="214884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1E56"/>
                </a:solidFill>
              </a:defRPr>
            </a:pPr>
            <a:r>
              <a:t>Smart Campus Micro-Grid</a:t>
            </a:r>
          </a:p>
          <a:p>
            <a:pPr>
              <a:defRPr sz="1000" b="1">
                <a:solidFill>
                  <a:srgbClr val="A855F7"/>
                </a:solidFill>
              </a:defRPr>
            </a:pPr>
            <a:r>
              <a:t>IoT &amp; Embedded (ESP32 / MQTT / Grafana)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Distributed smart energy monitoring with sub-second MQTT telemetry, power spike alerts, and automated load balancing.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429000" cy="214884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600200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1E56"/>
                </a:solidFill>
              </a:defRPr>
            </a:pPr>
            <a:r>
              <a:t>High-Throughput Ledger</a:t>
            </a:r>
          </a:p>
          <a:p>
            <a:pPr>
              <a:defRPr sz="1000" b="1">
                <a:solidFill>
                  <a:srgbClr val="A855F7"/>
                </a:solidFill>
              </a:defRPr>
            </a:pPr>
            <a:r>
              <a:t>Fintech &amp; Go (Go / Redis / Kafka / Postgres)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Event-sourced double-entry ledger handling 12k tx/sec with distributed lock mitigation and ACID audit persistence.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417320"/>
            <a:ext cx="3429000" cy="214884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600200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1E56"/>
                </a:solidFill>
              </a:defRPr>
            </a:pPr>
            <a:r>
              <a:t>Medical Image Classifier</a:t>
            </a:r>
          </a:p>
          <a:p>
            <a:pPr>
              <a:defRPr sz="1000" b="1">
                <a:solidFill>
                  <a:srgbClr val="A855F7"/>
                </a:solidFill>
              </a:defRPr>
            </a:pPr>
            <a:r>
              <a:t>Deep Learning (PyTorch / DenseNet / FastAPI)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Diagnostic computer vision pipeline classifying chest X-rays with Grad-CAM visual heatmaps and 94.6% validation accuracy.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429000" cy="214884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77640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1E56"/>
                </a:solidFill>
              </a:defRPr>
            </a:pPr>
            <a:r>
              <a:t>AI Network Attack Forecaster</a:t>
            </a:r>
          </a:p>
          <a:p>
            <a:pPr>
              <a:defRPr sz="1000" b="1">
                <a:solidFill>
                  <a:srgbClr val="A855F7"/>
                </a:solidFill>
              </a:defRPr>
            </a:pPr>
            <a:r>
              <a:t>Cyber Defense (Zeek PCAP / Temporal GAT)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Predictive intrusion detector analyzing 25k packets/sec to forecast lateral movement attacks 8 minutes before asset breach.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3794760"/>
            <a:ext cx="3429000" cy="214884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977640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1E56"/>
                </a:solidFill>
              </a:defRPr>
            </a:pPr>
            <a:r>
              <a:t>Drone 3D Model Synthesizer</a:t>
            </a:r>
          </a:p>
          <a:p>
            <a:pPr>
              <a:defRPr sz="1000" b="1">
                <a:solidFill>
                  <a:srgbClr val="A855F7"/>
                </a:solidFill>
              </a:defRPr>
            </a:pPr>
            <a:r>
              <a:t>SIH Hardware &amp; Vision (Instant-NGP / NeRF)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Single-pass drone reconnaissance footage reconstruction generating centimetre-accurate 3D point cloud meshes.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80" y="3794760"/>
            <a:ext cx="3429000" cy="214884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3977640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1E56"/>
                </a:solidFill>
              </a:defRPr>
            </a:pPr>
            <a:r>
              <a:t>Autonomous Supply Optimizer</a:t>
            </a:r>
          </a:p>
          <a:p>
            <a:pPr>
              <a:defRPr sz="1000" b="1">
                <a:solidFill>
                  <a:srgbClr val="A855F7"/>
                </a:solidFill>
              </a:defRPr>
            </a:pPr>
            <a:r>
              <a:t>Enterprise AI (MILP / Python / FastAPI)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Mixed-integer linear programming model minimizing multi-warehouse distribution costs under dynamic demand constraints.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1E56"/>
                </a:solidFill>
              </a:defRPr>
            </a:pPr>
            <a:r>
              <a:t>REPORTS &amp; ACCREDITATION PIPELINES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Institutional Analytics, ATS Studio &amp; Reporting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2E2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1A1AA"/>
                </a:solidFill>
              </a:defRPr>
            </a:pPr>
            <a:r>
              <a:t>Slide 09 / 10 • Pathfinder 2.0 • Lead Systems Engineer: Dileep Bommali • https://github.com/dileepbommali16-ops/pathfinder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429000" cy="470916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2971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855F7"/>
                </a:solidFill>
              </a:defRPr>
            </a:pPr>
            <a:r>
              <a:t>CONTEXT-SYNCHRONIZED MENTORSHIP</a:t>
            </a:r>
          </a:p>
          <a:p>
            <a:pPr>
              <a:defRPr sz="1700" b="1">
                <a:solidFill>
                  <a:srgbClr val="FF1E56"/>
                </a:solidFill>
              </a:defRPr>
            </a:pPr>
            <a:r>
              <a:t>Live UI State Awareness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The AI mentor continuously reads live telemetry from the student's active UI — ingesting exact CGPA, pending backlogs, target role, and ML placement gauge percentage to mentor with concrete numbers instead of generic advice.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429000" cy="470916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45920"/>
            <a:ext cx="2971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855F7"/>
                </a:solidFill>
              </a:defRPr>
            </a:pPr>
            <a:r>
              <a:t>ELIMINATING REGIONAL LANGUAGE BARRIERS</a:t>
            </a:r>
          </a:p>
          <a:p>
            <a:pPr>
              <a:defRPr sz="1700" b="1">
                <a:solidFill>
                  <a:srgbClr val="FF1E56"/>
                </a:solidFill>
              </a:defRPr>
            </a:pPr>
            <a:r>
              <a:t>Bilingual Mentorship (English + Telugu)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Full technical mentorship in fluent English, native Telugu script, and conversational Roman Telugu. Explains complex distributed systems, memory heaps, and tree traversals without linguistic intimidation.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417320"/>
            <a:ext cx="3429000" cy="4709160"/>
          </a:xfrm>
          <a:prstGeom prst="roundRect">
            <a:avLst/>
          </a:prstGeom>
          <a:solidFill>
            <a:srgbClr val="100E16"/>
          </a:solidFill>
          <a:ln w="15240"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645920"/>
            <a:ext cx="2971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855F7"/>
                </a:solidFill>
              </a:defRPr>
            </a:pPr>
            <a:r>
              <a:t>HIGH-PRESSURE MOCK INTERVIEW GRILLING</a:t>
            </a:r>
          </a:p>
          <a:p>
            <a:pPr>
              <a:defRPr sz="1700" b="1">
                <a:solidFill>
                  <a:srgbClr val="FF1E56"/>
                </a:solidFill>
              </a:defRPr>
            </a:pPr>
            <a:r>
              <a:t>Viva Defense Simulator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Interrogates candidates on architectural choices, database locking, edge cases, and scaling bottlenecks in their portfolio projects, preparing them thoroughly for rigorous viva panels and technical rounds.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1E56"/>
                </a:solidFill>
              </a:defRPr>
            </a:pPr>
            <a:r>
              <a:t>VERIFICATION &amp; FUTURE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Production Benchmarks, Roadmap &amp; Open Q&amp;A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2E2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1A1AA"/>
                </a:solidFill>
              </a:defRPr>
            </a:pPr>
            <a:r>
              <a:t>Slide 10 / 10 • Pathfinder 2.0 • Lead Systems Engineer: Dileep Bommali • https://github.com/dileepbommali16-ops/pathfinder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429000" cy="1234440"/>
          </a:xfrm>
          <a:prstGeom prst="roundRect">
            <a:avLst/>
          </a:prstGeom>
          <a:solidFill>
            <a:srgbClr val="100E16"/>
          </a:solidFill>
          <a:ln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30632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1E56"/>
                </a:solidFill>
              </a:defRPr>
            </a:pPr>
            <a:r>
              <a:t>✓ 972 Student Records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Verified across 9 Engineering disciplines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429000" cy="1234440"/>
          </a:xfrm>
          <a:prstGeom prst="roundRect">
            <a:avLst/>
          </a:prstGeom>
          <a:solidFill>
            <a:srgbClr val="100E16"/>
          </a:solidFill>
          <a:ln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554480"/>
            <a:ext cx="30632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1E56"/>
                </a:solidFill>
              </a:defRPr>
            </a:pPr>
            <a:r>
              <a:t>✓ 88.2% Test Accuracy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Random Forest Classifier (120 Estimators)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417320"/>
            <a:ext cx="3429000" cy="1234440"/>
          </a:xfrm>
          <a:prstGeom prst="roundRect">
            <a:avLst/>
          </a:prstGeom>
          <a:solidFill>
            <a:srgbClr val="100E16"/>
          </a:solidFill>
          <a:ln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554480"/>
            <a:ext cx="30632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1E56"/>
                </a:solidFill>
              </a:defRPr>
            </a:pPr>
            <a:r>
              <a:t>✓ Sub-15ms Query Latency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SQLite Write-Ahead Logging (WAL) Mode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788920"/>
            <a:ext cx="3429000" cy="1234440"/>
          </a:xfrm>
          <a:prstGeom prst="roundRect">
            <a:avLst/>
          </a:prstGeom>
          <a:solidFill>
            <a:srgbClr val="100E16"/>
          </a:solidFill>
          <a:ln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26080"/>
            <a:ext cx="30632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1E56"/>
                </a:solidFill>
              </a:defRPr>
            </a:pPr>
            <a:r>
              <a:t>✓ 16/16 Audits Passed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Strict IDOR 403 Forbidden Security Verification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788920"/>
            <a:ext cx="3429000" cy="1234440"/>
          </a:xfrm>
          <a:prstGeom prst="roundRect">
            <a:avLst/>
          </a:prstGeom>
          <a:solidFill>
            <a:srgbClr val="100E16"/>
          </a:solidFill>
          <a:ln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926080"/>
            <a:ext cx="30632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1E56"/>
                </a:solidFill>
              </a:defRPr>
            </a:pPr>
            <a:r>
              <a:t>✓ 100% Strict Type Safety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Zero TypeScript compilation warnings (tsc --noEmit)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80" y="2788920"/>
            <a:ext cx="3429000" cy="1234440"/>
          </a:xfrm>
          <a:prstGeom prst="roundRect">
            <a:avLst/>
          </a:prstGeom>
          <a:solidFill>
            <a:srgbClr val="100E16"/>
          </a:solidFill>
          <a:ln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2926080"/>
            <a:ext cx="30632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1E56"/>
                </a:solidFill>
              </a:defRPr>
            </a:pPr>
            <a:r>
              <a:t>✓ Production Deployed</a:t>
            </a:r>
          </a:p>
          <a:p>
            <a:pPr>
              <a:defRPr sz="1100">
                <a:solidFill>
                  <a:srgbClr val="A1A1AA"/>
                </a:solidFill>
              </a:defRPr>
            </a:pPr>
            <a:r>
              <a:t>Live on Vercel Edge SPA &amp; Render Cloud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389120"/>
            <a:ext cx="10728655" cy="1737360"/>
          </a:xfrm>
          <a:prstGeom prst="roundRect">
            <a:avLst/>
          </a:prstGeom>
          <a:solidFill>
            <a:srgbClr val="181420"/>
          </a:solidFill>
          <a:ln>
            <a:solidFill>
              <a:srgbClr val="2E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526280"/>
            <a:ext cx="101800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855F7"/>
                </a:solidFill>
              </a:defRPr>
            </a:pPr>
            <a:r>
              <a:t>FUTURE ROADMAP &amp; FEDERATED SCALING: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AI Voice Mock Interviews: Real-time speech cadence, audio sentiment, and DSA problem-solving analysis.</a:t>
            </a:r>
            <a:br/>
            <a:r>
              <a:t>• Continuous GitHub Scraping: Webhook pipeline tracking real-time code commits, PR merges, and LeetCode ratings.</a:t>
            </a:r>
            <a:br/>
            <a:r>
              <a:t>• Multi-Campus Federated Network: Benchmarking placement metrics across peer universities for national rankings.</a:t>
            </a:r>
          </a:p>
          <a:p>
            <a:pPr>
              <a:defRPr sz="1200" b="1">
                <a:solidFill>
                  <a:srgbClr val="FF1E56"/>
                </a:solidFill>
              </a:defRPr>
            </a:pPr>
            <a:r>
              <a:t>Lead Systems Architect: Dileep Bommali  |  Repository: https://github.com/dileepbommali16-ops/pathfinder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