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Good morning everyone. I am Dileep Bommali, and today I am excited to present Pathfinder 2.0 — a full-stack, AI-driven career intelligence platform engineered to bridge the critical gap between academic curriculum and high-growth industry expectations.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Every year, millions of engineering graduates enter the recruitment cycle, yet over 60% face challenges landing core roles. The fundamental problem isn't lack of talent—it's lack of early, data-backed visibility into their placement readiness.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Pathfinder acts as an autonomous career copilot. It ingests academic metrics, competitive coding, hackathons, and certifications, and provides actionable, step-by-step guidance to reach peak readiness.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Pathfinder is built on a decoupled, production-grade architecture. The responsive React frontend connects to a lightning-fast FastAPI backend, with sub-100 millisecond inference and end-to-end type safety.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Rather than guessing based on grades, our ML engine analyzes 8 holistic dimensions across 972 real records. It generates exact probability scores and pinpoints high-impact actions to improve student outcomes.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When a student selects a career track, Pathfinder pinpoints their technical weaknesses. Google Gemini then generates a tailored, structured roadmap with handpicked exercises.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We prioritized design excellence. The interactive lamp login, WebGL shader background, and responsive glassmorphic cards make the platform engaging and memorable for users.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For universities, Pathfinder acts as a command center. Placement officers can track batch readiness, export verified candidate pools, and generate PDF dossiers in seconds.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Every single module in Pathfinder has undergone comprehensive validation. The API endpoints, machine learning inference, and React build are rock-solid and production-ready.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Thank you for your time and attention. Pathfinder represents the future of data-driven student career acceleration. I am now open to your questions.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0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0F1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1097280" y="914400"/>
            <a:ext cx="9997135" cy="5029200"/>
          </a:xfrm>
          <a:prstGeom prst="roundRect">
            <a:avLst/>
          </a:prstGeom>
          <a:solidFill>
            <a:srgbClr val="131A2A"/>
          </a:solidFill>
          <a:ln w="19050">
            <a:solidFill>
              <a:srgbClr val="25314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645920" y="1371600"/>
            <a:ext cx="8899855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4600" b="1">
                <a:solidFill>
                  <a:srgbClr val="00E5FF"/>
                </a:solidFill>
              </a:defRPr>
            </a:pPr>
            <a:r>
              <a:t>PATHFINDER 2.0</a:t>
            </a:r>
          </a:p>
          <a:p>
            <a:pPr algn="ctr">
              <a:defRPr sz="2000">
                <a:solidFill>
                  <a:srgbClr val="F8FAFC"/>
                </a:solidFill>
              </a:defRPr>
            </a:pPr>
            <a:r>
              <a:t>Predictive Placement Analytics &amp; Autonomous AI Career Guidance Platform</a:t>
            </a:r>
          </a:p>
          <a:p>
            <a:pPr algn="ctr">
              <a:defRPr sz="1400">
                <a:solidFill>
                  <a:srgbClr val="25314E"/>
                </a:solidFill>
              </a:defRPr>
            </a:pPr>
            <a:r>
              <a:t>━━━━━━━━━━━━━━━━━━━━━━━━━━━━━━━━━━━━━━━━━</a:t>
            </a:r>
          </a:p>
          <a:p>
            <a:pPr algn="ctr">
              <a:defRPr sz="1800" b="1">
                <a:solidFill>
                  <a:srgbClr val="A855F7"/>
                </a:solidFill>
              </a:defRPr>
            </a:pPr>
            <a:r>
              <a:t>Developer &amp; Lead Engineer: Dileep Bommali</a:t>
            </a:r>
          </a:p>
          <a:p>
            <a:pPr algn="ctr">
              <a:defRPr sz="1400">
                <a:solidFill>
                  <a:srgbClr val="94A3B8"/>
                </a:solidFill>
              </a:defRPr>
            </a:pPr>
            <a:r>
              <a:t>Stack: React 19 • TypeScript • FastAPI • Scikit-Learn • Google Gemini AI • ThreeUI WebGL</a:t>
            </a:r>
          </a:p>
          <a:p>
            <a:pPr algn="ctr">
              <a:defRPr sz="1300">
                <a:solidFill>
                  <a:srgbClr val="00E5FF"/>
                </a:solidFill>
              </a:defRPr>
            </a:pPr>
            <a:r>
              <a:t>Repository: https://github.com/dileepbommali16-ops/pathfinder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0F1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457200"/>
            <a:ext cx="106984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1">
                <a:solidFill>
                  <a:srgbClr val="00E5FF"/>
                </a:solidFill>
              </a:defRPr>
            </a:pPr>
            <a:r>
              <a:t>PROBLEM STATEMENT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777240"/>
            <a:ext cx="106984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800" b="1">
                <a:solidFill>
                  <a:srgbClr val="F8FAFC"/>
                </a:solidFill>
              </a:defRPr>
            </a:pPr>
            <a:r>
              <a:t>The Industry-Academia Placement Disconnect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31520" y="1691640"/>
            <a:ext cx="5120640" cy="2011680"/>
          </a:xfrm>
          <a:prstGeom prst="roundRect">
            <a:avLst/>
          </a:prstGeom>
          <a:solidFill>
            <a:srgbClr val="131A2A"/>
          </a:solidFill>
          <a:ln w="15240">
            <a:solidFill>
              <a:srgbClr val="25314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05840" y="1965960"/>
            <a:ext cx="4572000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700" b="1">
                <a:solidFill>
                  <a:srgbClr val="00E5FF"/>
                </a:solidFill>
              </a:defRPr>
            </a:pPr>
            <a:r>
              <a:t>01. Lack of Early Forecasting</a:t>
            </a:r>
          </a:p>
          <a:p>
            <a:pPr>
              <a:defRPr sz="1400">
                <a:solidFill>
                  <a:srgbClr val="94A3B8"/>
                </a:solidFill>
              </a:defRPr>
            </a:pPr>
            <a:r>
              <a:t>Students realize placement readiness gaps in final semester when it is too late to pivot.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172200" y="1691640"/>
            <a:ext cx="5120640" cy="2011680"/>
          </a:xfrm>
          <a:prstGeom prst="roundRect">
            <a:avLst/>
          </a:prstGeom>
          <a:solidFill>
            <a:srgbClr val="131A2A"/>
          </a:solidFill>
          <a:ln w="15240">
            <a:solidFill>
              <a:srgbClr val="25314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446520" y="1965960"/>
            <a:ext cx="4572000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700" b="1">
                <a:solidFill>
                  <a:srgbClr val="00E5FF"/>
                </a:solidFill>
              </a:defRPr>
            </a:pPr>
            <a:r>
              <a:t>02. Ambiguous Industry Benchmarks</a:t>
            </a:r>
          </a:p>
          <a:p>
            <a:pPr>
              <a:defRPr sz="1400">
                <a:solidFill>
                  <a:srgbClr val="94A3B8"/>
                </a:solidFill>
              </a:defRPr>
            </a:pPr>
            <a:r>
              <a:t>Job descriptions are noisy and vague; students struggle to understand exact technical expectations.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31520" y="3977639"/>
            <a:ext cx="5120640" cy="2011680"/>
          </a:xfrm>
          <a:prstGeom prst="roundRect">
            <a:avLst/>
          </a:prstGeom>
          <a:solidFill>
            <a:srgbClr val="131A2A"/>
          </a:solidFill>
          <a:ln w="15240">
            <a:solidFill>
              <a:srgbClr val="25314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005840" y="4251959"/>
            <a:ext cx="4572000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700" b="1">
                <a:solidFill>
                  <a:srgbClr val="00E5FF"/>
                </a:solidFill>
              </a:defRPr>
            </a:pPr>
            <a:r>
              <a:t>03. Scalability Bottlenecks</a:t>
            </a:r>
          </a:p>
          <a:p>
            <a:pPr>
              <a:defRPr sz="1400">
                <a:solidFill>
                  <a:srgbClr val="94A3B8"/>
                </a:solidFill>
              </a:defRPr>
            </a:pPr>
            <a:r>
              <a:t>College placement cells cannot provide 24/7 personalized, one-on-one technical coaching to thousands.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172200" y="3977639"/>
            <a:ext cx="5120640" cy="2011680"/>
          </a:xfrm>
          <a:prstGeom prst="roundRect">
            <a:avLst/>
          </a:prstGeom>
          <a:solidFill>
            <a:srgbClr val="131A2A"/>
          </a:solidFill>
          <a:ln w="15240">
            <a:solidFill>
              <a:srgbClr val="25314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446520" y="4251959"/>
            <a:ext cx="4572000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700" b="1">
                <a:solidFill>
                  <a:srgbClr val="00E5FF"/>
                </a:solidFill>
              </a:defRPr>
            </a:pPr>
            <a:r>
              <a:t>04. Unstructured Multi-Dimensional Data</a:t>
            </a:r>
          </a:p>
          <a:p>
            <a:pPr>
              <a:defRPr sz="1400">
                <a:solidFill>
                  <a:srgbClr val="94A3B8"/>
                </a:solidFill>
              </a:defRPr>
            </a:pPr>
            <a:r>
              <a:t>Colleges rely solely on GPA, ignoring coding ranks, hackathons, and soft-skill metrics.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0F1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457200"/>
            <a:ext cx="106984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1">
                <a:solidFill>
                  <a:srgbClr val="00E5FF"/>
                </a:solidFill>
              </a:defRPr>
            </a:pPr>
            <a:r>
              <a:t>THE SOLUTION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777240"/>
            <a:ext cx="106984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800" b="1">
                <a:solidFill>
                  <a:srgbClr val="F8FAFC"/>
                </a:solidFill>
              </a:defRPr>
            </a:pPr>
            <a:r>
              <a:t>Pathfinder 2.0: Data-Driven Career Acceleration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31520" y="1737360"/>
            <a:ext cx="2560320" cy="4389120"/>
          </a:xfrm>
          <a:prstGeom prst="roundRect">
            <a:avLst/>
          </a:prstGeom>
          <a:solidFill>
            <a:srgbClr val="131A2A"/>
          </a:solidFill>
          <a:ln w="15240">
            <a:solidFill>
              <a:srgbClr val="25314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14400" y="2011680"/>
            <a:ext cx="2194560" cy="3840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1">
                <a:solidFill>
                  <a:srgbClr val="A855F7"/>
                </a:solidFill>
              </a:defRPr>
            </a:pPr>
            <a:r>
              <a:t>PHASE 01</a:t>
            </a:r>
          </a:p>
          <a:p>
            <a:pPr>
              <a:defRPr sz="1800" b="1">
                <a:solidFill>
                  <a:srgbClr val="00E5FF"/>
                </a:solidFill>
              </a:defRPr>
            </a:pPr>
            <a:r>
              <a:t>Predictive ML Engine</a:t>
            </a:r>
          </a:p>
          <a:p>
            <a:pPr>
              <a:defRPr sz="1300">
                <a:solidFill>
                  <a:srgbClr val="F8FAFC"/>
                </a:solidFill>
              </a:defRPr>
            </a:pPr>
            <a:r>
              <a:t>Computes statistical placement probability, candidate tier, and risk factors instantly.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3429000" y="1737360"/>
            <a:ext cx="2560320" cy="4389120"/>
          </a:xfrm>
          <a:prstGeom prst="roundRect">
            <a:avLst/>
          </a:prstGeom>
          <a:solidFill>
            <a:srgbClr val="131A2A"/>
          </a:solidFill>
          <a:ln w="15240">
            <a:solidFill>
              <a:srgbClr val="25314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3611880" y="2011680"/>
            <a:ext cx="2194560" cy="3840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1">
                <a:solidFill>
                  <a:srgbClr val="A855F7"/>
                </a:solidFill>
              </a:defRPr>
            </a:pPr>
            <a:r>
              <a:t>PHASE 02</a:t>
            </a:r>
          </a:p>
          <a:p>
            <a:pPr>
              <a:defRPr sz="1800" b="1">
                <a:solidFill>
                  <a:srgbClr val="00E5FF"/>
                </a:solidFill>
              </a:defRPr>
            </a:pPr>
            <a:r>
              <a:t>Skill-Gap Radar</a:t>
            </a:r>
          </a:p>
          <a:p>
            <a:pPr>
              <a:defRPr sz="1300">
                <a:solidFill>
                  <a:srgbClr val="F8FAFC"/>
                </a:solidFill>
              </a:defRPr>
            </a:pPr>
            <a:r>
              <a:t>Benchmarks student profile against live industry requirements for Tier-1 engineering roles.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126480" y="1737360"/>
            <a:ext cx="2560320" cy="4389120"/>
          </a:xfrm>
          <a:prstGeom prst="roundRect">
            <a:avLst/>
          </a:prstGeom>
          <a:solidFill>
            <a:srgbClr val="131A2A"/>
          </a:solidFill>
          <a:ln w="15240">
            <a:solidFill>
              <a:srgbClr val="25314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309360" y="2011680"/>
            <a:ext cx="2194560" cy="3840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1">
                <a:solidFill>
                  <a:srgbClr val="A855F7"/>
                </a:solidFill>
              </a:defRPr>
            </a:pPr>
            <a:r>
              <a:t>PHASE 03</a:t>
            </a:r>
          </a:p>
          <a:p>
            <a:pPr>
              <a:defRPr sz="1800" b="1">
                <a:solidFill>
                  <a:srgbClr val="00E5FF"/>
                </a:solidFill>
              </a:defRPr>
            </a:pPr>
            <a:r>
              <a:t>Autonomous Gemini AI Coach</a:t>
            </a:r>
          </a:p>
          <a:p>
            <a:pPr>
              <a:defRPr sz="1300">
                <a:solidFill>
                  <a:srgbClr val="F8FAFC"/>
                </a:solidFill>
              </a:defRPr>
            </a:pPr>
            <a:r>
              <a:t>Generates custom week-by-week learning roadmaps and provides 24/7 technical mentorship.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823960" y="1737360"/>
            <a:ext cx="2560320" cy="4389120"/>
          </a:xfrm>
          <a:prstGeom prst="roundRect">
            <a:avLst/>
          </a:prstGeom>
          <a:solidFill>
            <a:srgbClr val="131A2A"/>
          </a:solidFill>
          <a:ln w="15240">
            <a:solidFill>
              <a:srgbClr val="25314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9006840" y="2011680"/>
            <a:ext cx="2194560" cy="3840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1">
                <a:solidFill>
                  <a:srgbClr val="A855F7"/>
                </a:solidFill>
              </a:defRPr>
            </a:pPr>
            <a:r>
              <a:t>PHASE 04</a:t>
            </a:r>
          </a:p>
          <a:p>
            <a:pPr>
              <a:defRPr sz="1800" b="1">
                <a:solidFill>
                  <a:srgbClr val="00E5FF"/>
                </a:solidFill>
              </a:defRPr>
            </a:pPr>
            <a:r>
              <a:t>Placement Cell Analytics</a:t>
            </a:r>
          </a:p>
          <a:p>
            <a:pPr>
              <a:defRPr sz="1300">
                <a:solidFill>
                  <a:srgbClr val="F8FAFC"/>
                </a:solidFill>
              </a:defRPr>
            </a:pPr>
            <a:r>
              <a:t>Cohort segmentation, recruiter talent filters, and instant ATS PDF/CSV report exports.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0F1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457200"/>
            <a:ext cx="106984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1">
                <a:solidFill>
                  <a:srgbClr val="00E5FF"/>
                </a:solidFill>
              </a:defRPr>
            </a:pPr>
            <a:r>
              <a:t>SYSTEM DESIGN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777240"/>
            <a:ext cx="106984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800" b="1">
                <a:solidFill>
                  <a:srgbClr val="F8FAFC"/>
                </a:solidFill>
              </a:defRPr>
            </a:pPr>
            <a:r>
              <a:t>Full-Stack System Architecture &amp; Data Flow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31520" y="1737360"/>
            <a:ext cx="3429000" cy="4389120"/>
          </a:xfrm>
          <a:prstGeom prst="roundRect">
            <a:avLst/>
          </a:prstGeom>
          <a:solidFill>
            <a:srgbClr val="131A2A"/>
          </a:solidFill>
          <a:ln w="15240">
            <a:solidFill>
              <a:srgbClr val="25314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60120" y="2011680"/>
            <a:ext cx="2971800" cy="3840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200" b="1">
                <a:solidFill>
                  <a:srgbClr val="A855F7"/>
                </a:solidFill>
              </a:defRPr>
            </a:pPr>
            <a:r>
              <a:t>FRONTEND TIER</a:t>
            </a:r>
          </a:p>
          <a:p>
            <a:pPr>
              <a:defRPr sz="1800" b="1">
                <a:solidFill>
                  <a:srgbClr val="00E5FF"/>
                </a:solidFill>
              </a:defRPr>
            </a:pPr>
            <a:r>
              <a:t>React 19 &amp; TypeScript</a:t>
            </a:r>
          </a:p>
          <a:p>
            <a:pPr>
              <a:defRPr sz="1300">
                <a:solidFill>
                  <a:srgbClr val="F8FAFC"/>
                </a:solidFill>
              </a:defRPr>
            </a:pPr>
            <a:r>
              <a:t>Vite 7 build system, Tailwind CSS v4, Framer Motion, 15 specialized modules, ThreeUI 3D WebGL background shaders.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343400" y="1737360"/>
            <a:ext cx="3429000" cy="4389120"/>
          </a:xfrm>
          <a:prstGeom prst="roundRect">
            <a:avLst/>
          </a:prstGeom>
          <a:solidFill>
            <a:srgbClr val="131A2A"/>
          </a:solidFill>
          <a:ln w="15240">
            <a:solidFill>
              <a:srgbClr val="25314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0" y="2011680"/>
            <a:ext cx="2971800" cy="3840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200" b="1">
                <a:solidFill>
                  <a:srgbClr val="A855F7"/>
                </a:solidFill>
              </a:defRPr>
            </a:pPr>
            <a:r>
              <a:t>API &amp; GATEWAY TIER</a:t>
            </a:r>
          </a:p>
          <a:p>
            <a:pPr>
              <a:defRPr sz="1800" b="1">
                <a:solidFill>
                  <a:srgbClr val="00E5FF"/>
                </a:solidFill>
              </a:defRPr>
            </a:pPr>
            <a:r>
              <a:t>FastAPI &amp; SQLite WAL</a:t>
            </a:r>
          </a:p>
          <a:p>
            <a:pPr>
              <a:defRPr sz="1300">
                <a:solidFill>
                  <a:srgbClr val="F8FAFC"/>
                </a:solidFill>
              </a:defRPr>
            </a:pPr>
            <a:r>
              <a:t>High-throughput asynchronous Python gateway, SQLite in WAL mode with repository pattern, sub-20ms queries, JWT security.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955280" y="1737360"/>
            <a:ext cx="3429000" cy="4389120"/>
          </a:xfrm>
          <a:prstGeom prst="roundRect">
            <a:avLst/>
          </a:prstGeom>
          <a:solidFill>
            <a:srgbClr val="131A2A"/>
          </a:solidFill>
          <a:ln w="15240">
            <a:solidFill>
              <a:srgbClr val="25314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183880" y="2011680"/>
            <a:ext cx="2971800" cy="3840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200" b="1">
                <a:solidFill>
                  <a:srgbClr val="A855F7"/>
                </a:solidFill>
              </a:defRPr>
            </a:pPr>
            <a:r>
              <a:t>INTELLIGENCE TIER</a:t>
            </a:r>
          </a:p>
          <a:p>
            <a:pPr>
              <a:defRPr sz="1800" b="1">
                <a:solidFill>
                  <a:srgbClr val="00E5FF"/>
                </a:solidFill>
              </a:defRPr>
            </a:pPr>
            <a:r>
              <a:t>Scikit-Learn &amp; Gemini AI</a:t>
            </a:r>
          </a:p>
          <a:p>
            <a:pPr>
              <a:defRPr sz="1300">
                <a:solidFill>
                  <a:srgbClr val="F8FAFC"/>
                </a:solidFill>
              </a:defRPr>
            </a:pPr>
            <a:r>
              <a:t>Calibrated Random Forest model (88% accuracy, 972 cohort records), Google Gemini 2.0 Flash bilingual AI Coach.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0F1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457200"/>
            <a:ext cx="106984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1">
                <a:solidFill>
                  <a:srgbClr val="00E5FF"/>
                </a:solidFill>
              </a:defRPr>
            </a:pPr>
            <a:r>
              <a:t>ALGORITHM &amp; MODEL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777240"/>
            <a:ext cx="106984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800" b="1">
                <a:solidFill>
                  <a:srgbClr val="F8FAFC"/>
                </a:solidFill>
              </a:defRPr>
            </a:pPr>
            <a:r>
              <a:t>Quantitative ML Placement Prediction (972 Records)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31520" y="1737360"/>
            <a:ext cx="5120640" cy="4389120"/>
          </a:xfrm>
          <a:prstGeom prst="roundRect">
            <a:avLst/>
          </a:prstGeom>
          <a:solidFill>
            <a:srgbClr val="131A2A"/>
          </a:solidFill>
          <a:ln>
            <a:solidFill>
              <a:srgbClr val="25314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05840" y="1920240"/>
            <a:ext cx="4572000" cy="4023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900" b="1">
                <a:solidFill>
                  <a:srgbClr val="00E5FF"/>
                </a:solidFill>
              </a:defRPr>
            </a:pPr>
            <a:r>
              <a:t>Features &amp; Input Vector</a:t>
            </a:r>
          </a:p>
          <a:p>
            <a:pPr>
              <a:defRPr sz="1300">
                <a:solidFill>
                  <a:srgbClr val="F8FAFC"/>
                </a:solidFill>
              </a:defRPr>
            </a:pPr>
            <a:r>
              <a:t>• Academic standing: CGPA, core credits, active backlogs</a:t>
            </a:r>
          </a:p>
          <a:p>
            <a:pPr>
              <a:defRPr sz="1300">
                <a:solidFill>
                  <a:srgbClr val="F8FAFC"/>
                </a:solidFill>
              </a:defRPr>
            </a:pPr>
            <a:r>
              <a:t>• Industry readiness: Internships, live deployed projects</a:t>
            </a:r>
          </a:p>
          <a:p>
            <a:pPr>
              <a:defRPr sz="1300">
                <a:solidFill>
                  <a:srgbClr val="F8FAFC"/>
                </a:solidFill>
              </a:defRPr>
            </a:pPr>
            <a:r>
              <a:t>• Algorithmic aptitude: LeetCode/DSA problem count &amp; rank</a:t>
            </a:r>
          </a:p>
          <a:p>
            <a:pPr>
              <a:defRPr sz="1300">
                <a:solidFill>
                  <a:srgbClr val="F8FAFC"/>
                </a:solidFill>
              </a:defRPr>
            </a:pPr>
            <a:r>
              <a:t>• Competitions: Hackathon wins, certifications, GitHub portfolio</a:t>
            </a:r>
          </a:p>
          <a:p>
            <a:pPr>
              <a:defRPr sz="1300">
                <a:solidFill>
                  <a:srgbClr val="F8FAFC"/>
                </a:solidFill>
              </a:defRPr>
            </a:pPr>
            <a:r>
              <a:t>• Communication &amp; soft skills: Placement interview rubric scores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217920" y="1737360"/>
            <a:ext cx="5212080" cy="4389120"/>
          </a:xfrm>
          <a:prstGeom prst="roundRect">
            <a:avLst/>
          </a:prstGeom>
          <a:solidFill>
            <a:srgbClr val="131A2A"/>
          </a:solidFill>
          <a:ln>
            <a:solidFill>
              <a:srgbClr val="25314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492240" y="1920240"/>
            <a:ext cx="4663440" cy="4023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900" b="1">
                <a:solidFill>
                  <a:srgbClr val="A855F7"/>
                </a:solidFill>
              </a:defRPr>
            </a:pPr>
            <a:r>
              <a:t>Calibrated Random Forest Engine</a:t>
            </a:r>
          </a:p>
          <a:p>
            <a:pPr>
              <a:defRPr sz="1300">
                <a:solidFill>
                  <a:srgbClr val="F8FAFC"/>
                </a:solidFill>
              </a:defRPr>
            </a:pPr>
            <a:r>
              <a:t>• Trained on 972 historical student placement records across 9 branches</a:t>
            </a:r>
          </a:p>
          <a:p>
            <a:pPr>
              <a:defRPr sz="1300">
                <a:solidFill>
                  <a:srgbClr val="F8FAFC"/>
                </a:solidFill>
              </a:defRPr>
            </a:pPr>
            <a:r>
              <a:t>• Random Forest Classifier with 120 decision trees (88% test accuracy)</a:t>
            </a:r>
          </a:p>
          <a:p>
            <a:pPr>
              <a:defRPr sz="1300">
                <a:solidFill>
                  <a:srgbClr val="F8FAFC"/>
                </a:solidFill>
              </a:defRPr>
            </a:pPr>
            <a:r>
              <a:t>• Outputs probabilistic placement odds (0 - 100%) and salary tier (LPA)</a:t>
            </a:r>
          </a:p>
          <a:p>
            <a:pPr>
              <a:defRPr sz="1300">
                <a:solidFill>
                  <a:srgbClr val="F8FAFC"/>
                </a:solidFill>
              </a:defRPr>
            </a:pPr>
            <a:r>
              <a:t>• Feature importance scoring highlights priority growth areas</a:t>
            </a:r>
          </a:p>
          <a:p>
            <a:pPr>
              <a:defRPr sz="1300">
                <a:solidFill>
                  <a:srgbClr val="F8FAFC"/>
                </a:solidFill>
              </a:defRPr>
            </a:pPr>
            <a:r>
              <a:t>• Sub-45ms ultra-low inference latency per candidate prediction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0F1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457200"/>
            <a:ext cx="106984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1">
                <a:solidFill>
                  <a:srgbClr val="00E5FF"/>
                </a:solidFill>
              </a:defRPr>
            </a:pPr>
            <a:r>
              <a:t>AI MENTORSHIP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777240"/>
            <a:ext cx="106984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800" b="1">
                <a:solidFill>
                  <a:srgbClr val="F8FAFC"/>
                </a:solidFill>
              </a:defRPr>
            </a:pPr>
            <a:r>
              <a:t>Screen-Aware Bilingual Gemini AI Coach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31520" y="1737360"/>
            <a:ext cx="3429000" cy="4389120"/>
          </a:xfrm>
          <a:prstGeom prst="roundRect">
            <a:avLst/>
          </a:prstGeom>
          <a:solidFill>
            <a:srgbClr val="131A2A"/>
          </a:solidFill>
          <a:ln>
            <a:solidFill>
              <a:srgbClr val="25314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60120" y="2011680"/>
            <a:ext cx="2971800" cy="3840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200" b="1">
                <a:solidFill>
                  <a:srgbClr val="00E5FF"/>
                </a:solidFill>
              </a:defRPr>
            </a:pPr>
            <a:r>
              <a:t>LIVE UI SYNCHRONIZED</a:t>
            </a:r>
          </a:p>
          <a:p>
            <a:pPr>
              <a:defRPr sz="1900" b="1">
                <a:solidFill>
                  <a:srgbClr val="F8FAFC"/>
                </a:solidFill>
              </a:defRPr>
            </a:pPr>
            <a:r>
              <a:t>Screen-Aware Context</a:t>
            </a:r>
          </a:p>
          <a:p>
            <a:pPr>
              <a:defRPr sz="1400">
                <a:solidFill>
                  <a:srgbClr val="94A3B8"/>
                </a:solidFill>
              </a:defRPr>
            </a:pPr>
            <a:r>
              <a:t>The AI Coach dynamically reads the active screen, CGPA, backlogs, and gauge percentage to mentor with exact numbers.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343400" y="1737360"/>
            <a:ext cx="3429000" cy="4389120"/>
          </a:xfrm>
          <a:prstGeom prst="roundRect">
            <a:avLst/>
          </a:prstGeom>
          <a:solidFill>
            <a:srgbClr val="131A2A"/>
          </a:solidFill>
          <a:ln>
            <a:solidFill>
              <a:srgbClr val="25314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0" y="2011680"/>
            <a:ext cx="2971800" cy="3840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200" b="1">
                <a:solidFill>
                  <a:srgbClr val="00E5FF"/>
                </a:solidFill>
              </a:defRPr>
            </a:pPr>
            <a:r>
              <a:t>ENGLISH &amp; TELUGU SUPPORT</a:t>
            </a:r>
          </a:p>
          <a:p>
            <a:pPr>
              <a:defRPr sz="1900" b="1">
                <a:solidFill>
                  <a:srgbClr val="F8FAFC"/>
                </a:solidFill>
              </a:defRPr>
            </a:pPr>
            <a:r>
              <a:t>Bilingual Mentorship</a:t>
            </a:r>
          </a:p>
          <a:p>
            <a:pPr>
              <a:defRPr sz="1400">
                <a:solidFill>
                  <a:srgbClr val="94A3B8"/>
                </a:solidFill>
              </a:defRPr>
            </a:pPr>
            <a:r>
              <a:t>Offers technical coaching in English, Telugu script, and Roman Telugu to eliminate language barriers for all students.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955280" y="1737360"/>
            <a:ext cx="3429000" cy="4389120"/>
          </a:xfrm>
          <a:prstGeom prst="roundRect">
            <a:avLst/>
          </a:prstGeom>
          <a:solidFill>
            <a:srgbClr val="131A2A"/>
          </a:solidFill>
          <a:ln>
            <a:solidFill>
              <a:srgbClr val="25314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183880" y="2011680"/>
            <a:ext cx="2971800" cy="3840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200" b="1">
                <a:solidFill>
                  <a:srgbClr val="00E5FF"/>
                </a:solidFill>
              </a:defRPr>
            </a:pPr>
            <a:r>
              <a:t>CONVERSATIONAL MEMORY</a:t>
            </a:r>
          </a:p>
          <a:p>
            <a:pPr>
              <a:defRPr sz="1900" b="1">
                <a:solidFill>
                  <a:srgbClr val="F8FAFC"/>
                </a:solidFill>
              </a:defRPr>
            </a:pPr>
            <a:r>
              <a:t>Multi-Turn Follow-Ups</a:t>
            </a:r>
          </a:p>
          <a:p>
            <a:pPr>
              <a:defRPr sz="1400">
                <a:solidFill>
                  <a:srgbClr val="94A3B8"/>
                </a:solidFill>
              </a:defRPr>
            </a:pPr>
            <a:r>
              <a:t>Retains multi-turn dialogue context so candidates can ask in-depth follow-up questions on architecture, DSA, and viva prep.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0F1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457200"/>
            <a:ext cx="106984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1">
                <a:solidFill>
                  <a:srgbClr val="00E5FF"/>
                </a:solidFill>
              </a:defRPr>
            </a:pPr>
            <a:r>
              <a:t>DESIGN &amp; INTERACTION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777240"/>
            <a:ext cx="106984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800" b="1">
                <a:solidFill>
                  <a:srgbClr val="F8FAFC"/>
                </a:solidFill>
              </a:defRPr>
            </a:pPr>
            <a:r>
              <a:t>Spatial UI &amp; Immersive User Experience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31520" y="1737360"/>
            <a:ext cx="3429000" cy="4389120"/>
          </a:xfrm>
          <a:prstGeom prst="roundRect">
            <a:avLst/>
          </a:prstGeom>
          <a:solidFill>
            <a:srgbClr val="131A2A"/>
          </a:solidFill>
          <a:ln>
            <a:solidFill>
              <a:srgbClr val="25314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60120" y="2011680"/>
            <a:ext cx="2971800" cy="3840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200" b="1">
                <a:solidFill>
                  <a:srgbClr val="A855F7"/>
                </a:solidFill>
              </a:defRPr>
            </a:pPr>
            <a:r>
              <a:t>ZERO-BLOCKAGE ACCESS</a:t>
            </a:r>
          </a:p>
          <a:p>
            <a:pPr>
              <a:defRPr sz="1900" b="1">
                <a:solidFill>
                  <a:srgbClr val="00E5FF"/>
                </a:solidFill>
              </a:defRPr>
            </a:pPr>
            <a:r>
              <a:t>Interactive Lamp Login</a:t>
            </a:r>
          </a:p>
          <a:p>
            <a:pPr>
              <a:defRPr sz="1400">
                <a:solidFill>
                  <a:srgbClr val="F8FAFC"/>
                </a:solidFill>
              </a:defRPr>
            </a:pPr>
            <a:r>
              <a:t>Tactile desk lamp with pull cord, multi-point click controls, GPU particles, and 1-click Instant Guest Mode.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343400" y="1737360"/>
            <a:ext cx="3429000" cy="4389120"/>
          </a:xfrm>
          <a:prstGeom prst="roundRect">
            <a:avLst/>
          </a:prstGeom>
          <a:solidFill>
            <a:srgbClr val="131A2A"/>
          </a:solidFill>
          <a:ln>
            <a:solidFill>
              <a:srgbClr val="25314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0" y="2011680"/>
            <a:ext cx="2971800" cy="3840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200" b="1">
                <a:solidFill>
                  <a:srgbClr val="A855F7"/>
                </a:solidFill>
              </a:defRPr>
            </a:pPr>
            <a:r>
              <a:t>SOFTWARE &amp; HARDWARE</a:t>
            </a:r>
          </a:p>
          <a:p>
            <a:pPr>
              <a:defRPr sz="1900" b="1">
                <a:solidFill>
                  <a:srgbClr val="00E5FF"/>
                </a:solidFill>
              </a:defRPr>
            </a:pPr>
            <a:r>
              <a:t>23 Production Blueprints</a:t>
            </a:r>
          </a:p>
          <a:p>
            <a:pPr>
              <a:defRPr sz="1400">
                <a:solidFill>
                  <a:srgbClr val="F8FAFC"/>
                </a:solidFill>
              </a:defRPr>
            </a:pPr>
            <a:r>
              <a:t>6 Flagship + 17 Smart India Hackathon system architectures with pipelines, pitfalls, and viva defense Q&amp;A.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955280" y="1737360"/>
            <a:ext cx="3429000" cy="4389120"/>
          </a:xfrm>
          <a:prstGeom prst="roundRect">
            <a:avLst/>
          </a:prstGeom>
          <a:solidFill>
            <a:srgbClr val="131A2A"/>
          </a:solidFill>
          <a:ln>
            <a:solidFill>
              <a:srgbClr val="25314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183880" y="2011680"/>
            <a:ext cx="2971800" cy="3840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200" b="1">
                <a:solidFill>
                  <a:srgbClr val="A855F7"/>
                </a:solidFill>
              </a:defRPr>
            </a:pPr>
            <a:r>
              <a:t>SPATIAL UI ARCHITECTURE</a:t>
            </a:r>
          </a:p>
          <a:p>
            <a:pPr>
              <a:defRPr sz="1900" b="1">
                <a:solidFill>
                  <a:srgbClr val="00E5FF"/>
                </a:solidFill>
              </a:defRPr>
            </a:pPr>
            <a:r>
              <a:t>15 Specialized Modules</a:t>
            </a:r>
          </a:p>
          <a:p>
            <a:pPr>
              <a:defRPr sz="1400">
                <a:solidFill>
                  <a:srgbClr val="F8FAFC"/>
                </a:solidFill>
              </a:defRPr>
            </a:pPr>
            <a:r>
              <a:t>Overview, Cohort Analytics, What-If Simulator, Resume Studio, Digital Twin, and 3D WebGL background shaders.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0F1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457200"/>
            <a:ext cx="106984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1">
                <a:solidFill>
                  <a:srgbClr val="00E5FF"/>
                </a:solidFill>
              </a:defRPr>
            </a:pPr>
            <a:r>
              <a:t>REPORTS &amp; EXPORTS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777240"/>
            <a:ext cx="106984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800" b="1">
                <a:solidFill>
                  <a:srgbClr val="F8FAFC"/>
                </a:solidFill>
              </a:defRPr>
            </a:pPr>
            <a:r>
              <a:t>Institutional Intelligence &amp; Automated Reporting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31520" y="1737360"/>
            <a:ext cx="3429000" cy="4389120"/>
          </a:xfrm>
          <a:prstGeom prst="roundRect">
            <a:avLst/>
          </a:prstGeom>
          <a:solidFill>
            <a:srgbClr val="131A2A"/>
          </a:solidFill>
          <a:ln>
            <a:solidFill>
              <a:srgbClr val="25314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60120" y="2011680"/>
            <a:ext cx="2971800" cy="3840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200" b="1">
                <a:solidFill>
                  <a:srgbClr val="00E5FF"/>
                </a:solidFill>
              </a:defRPr>
            </a:pPr>
            <a:r>
              <a:t>BATCH ANALYTICS</a:t>
            </a:r>
          </a:p>
          <a:p>
            <a:pPr>
              <a:defRPr sz="1900" b="1">
                <a:solidFill>
                  <a:srgbClr val="F8FAFC"/>
                </a:solidFill>
              </a:defRPr>
            </a:pPr>
            <a:r>
              <a:t>Cohort Explorer Heatmaps</a:t>
            </a:r>
          </a:p>
          <a:p>
            <a:pPr>
              <a:defRPr sz="1400">
                <a:solidFill>
                  <a:srgbClr val="94A3B8"/>
                </a:solidFill>
              </a:defRPr>
            </a:pPr>
            <a:r>
              <a:t>Empowers placement directors to filter batches by CGPA brackets, branch, and predicted placement tiers.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343400" y="1737360"/>
            <a:ext cx="3429000" cy="4389120"/>
          </a:xfrm>
          <a:prstGeom prst="roundRect">
            <a:avLst/>
          </a:prstGeom>
          <a:solidFill>
            <a:srgbClr val="131A2A"/>
          </a:solidFill>
          <a:ln>
            <a:solidFill>
              <a:srgbClr val="25314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0" y="2011680"/>
            <a:ext cx="2971800" cy="3840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200" b="1">
                <a:solidFill>
                  <a:srgbClr val="00E5FF"/>
                </a:solidFill>
              </a:defRPr>
            </a:pPr>
            <a:r>
              <a:t>REPORTLAB GENERATION</a:t>
            </a:r>
          </a:p>
          <a:p>
            <a:pPr>
              <a:defRPr sz="1900" b="1">
                <a:solidFill>
                  <a:srgbClr val="F8FAFC"/>
                </a:solidFill>
              </a:defRPr>
            </a:pPr>
            <a:r>
              <a:t>ATS-Optimized PDF Profiles</a:t>
            </a:r>
          </a:p>
          <a:p>
            <a:pPr>
              <a:defRPr sz="1400">
                <a:solidFill>
                  <a:srgbClr val="94A3B8"/>
                </a:solidFill>
              </a:defRPr>
            </a:pPr>
            <a:r>
              <a:t>Compiles student metrics, skill radars, and verification badges into professional, recruiter-ready PDF reports.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955280" y="1737360"/>
            <a:ext cx="3429000" cy="4389120"/>
          </a:xfrm>
          <a:prstGeom prst="roundRect">
            <a:avLst/>
          </a:prstGeom>
          <a:solidFill>
            <a:srgbClr val="131A2A"/>
          </a:solidFill>
          <a:ln>
            <a:solidFill>
              <a:srgbClr val="25314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183880" y="2011680"/>
            <a:ext cx="2971800" cy="3840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200" b="1">
                <a:solidFill>
                  <a:srgbClr val="00E5FF"/>
                </a:solidFill>
              </a:defRPr>
            </a:pPr>
            <a:r>
              <a:t>INSTITUTIONAL EXPORTS</a:t>
            </a:r>
          </a:p>
          <a:p>
            <a:pPr>
              <a:defRPr sz="1900" b="1">
                <a:solidFill>
                  <a:srgbClr val="F8FAFC"/>
                </a:solidFill>
              </a:defRPr>
            </a:pPr>
            <a:r>
              <a:t>Batch CSV Data Pipeline</a:t>
            </a:r>
          </a:p>
          <a:p>
            <a:pPr>
              <a:defRPr sz="1400">
                <a:solidFill>
                  <a:srgbClr val="94A3B8"/>
                </a:solidFill>
              </a:defRPr>
            </a:pPr>
            <a:r>
              <a:t>One-click streaming export of student placement profiles for institutional accreditation and NAAC/NIRF reporting.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0F1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457200"/>
            <a:ext cx="106984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1">
                <a:solidFill>
                  <a:srgbClr val="00E5FF"/>
                </a:solidFill>
              </a:defRPr>
            </a:pPr>
            <a:r>
              <a:t>VERIFICATION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777240"/>
            <a:ext cx="106984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800" b="1">
                <a:solidFill>
                  <a:srgbClr val="F8FAFC"/>
                </a:solidFill>
              </a:defRPr>
            </a:pPr>
            <a:r>
              <a:t>Performance Benchmarks &amp; Quality Assurance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31520" y="1737360"/>
            <a:ext cx="3429000" cy="2011680"/>
          </a:xfrm>
          <a:prstGeom prst="roundRect">
            <a:avLst/>
          </a:prstGeom>
          <a:solidFill>
            <a:srgbClr val="131A2A"/>
          </a:solidFill>
          <a:ln>
            <a:solidFill>
              <a:srgbClr val="25314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60120" y="1965960"/>
            <a:ext cx="2971800" cy="1554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800" b="1">
                <a:solidFill>
                  <a:srgbClr val="00E5FF"/>
                </a:solidFill>
              </a:defRPr>
            </a:pPr>
            <a:r>
              <a:t>✓ 972 Placement Records</a:t>
            </a:r>
          </a:p>
          <a:p>
            <a:pPr>
              <a:defRPr sz="1300">
                <a:solidFill>
                  <a:srgbClr val="94A3B8"/>
                </a:solidFill>
              </a:defRPr>
            </a:pPr>
            <a:r>
              <a:t>Verified across 9 Engineering Branches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343400" y="1737360"/>
            <a:ext cx="3429000" cy="2011680"/>
          </a:xfrm>
          <a:prstGeom prst="roundRect">
            <a:avLst/>
          </a:prstGeom>
          <a:solidFill>
            <a:srgbClr val="131A2A"/>
          </a:solidFill>
          <a:ln>
            <a:solidFill>
              <a:srgbClr val="25314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0" y="1965960"/>
            <a:ext cx="2971800" cy="1554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800" b="1">
                <a:solidFill>
                  <a:srgbClr val="00E5FF"/>
                </a:solidFill>
              </a:defRPr>
            </a:pPr>
            <a:r>
              <a:t>✓ 88% ML Accuracy</a:t>
            </a:r>
          </a:p>
          <a:p>
            <a:pPr>
              <a:defRPr sz="1300">
                <a:solidFill>
                  <a:srgbClr val="94A3B8"/>
                </a:solidFill>
              </a:defRPr>
            </a:pPr>
            <a:r>
              <a:t>Random Forest Classifier (120 Estimators)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955280" y="1737360"/>
            <a:ext cx="3429000" cy="2011680"/>
          </a:xfrm>
          <a:prstGeom prst="roundRect">
            <a:avLst/>
          </a:prstGeom>
          <a:solidFill>
            <a:srgbClr val="131A2A"/>
          </a:solidFill>
          <a:ln>
            <a:solidFill>
              <a:srgbClr val="25314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183880" y="1965960"/>
            <a:ext cx="2971800" cy="1554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800" b="1">
                <a:solidFill>
                  <a:srgbClr val="00E5FF"/>
                </a:solidFill>
              </a:defRPr>
            </a:pPr>
            <a:r>
              <a:t>✓ 100% Strict Type Safety</a:t>
            </a:r>
          </a:p>
          <a:p>
            <a:pPr>
              <a:defRPr sz="1300">
                <a:solidFill>
                  <a:srgbClr val="94A3B8"/>
                </a:solidFill>
              </a:defRPr>
            </a:pPr>
            <a:r>
              <a:t>tsc --noEmit &amp; zero Python compilation errors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731520" y="4023360"/>
            <a:ext cx="3429000" cy="2011680"/>
          </a:xfrm>
          <a:prstGeom prst="roundRect">
            <a:avLst/>
          </a:prstGeom>
          <a:solidFill>
            <a:srgbClr val="131A2A"/>
          </a:solidFill>
          <a:ln>
            <a:solidFill>
              <a:srgbClr val="25314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960120" y="4251960"/>
            <a:ext cx="2971800" cy="1554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800" b="1">
                <a:solidFill>
                  <a:srgbClr val="00E5FF"/>
                </a:solidFill>
              </a:defRPr>
            </a:pPr>
            <a:r>
              <a:t>✓ 16/16 Audit Passed</a:t>
            </a:r>
          </a:p>
          <a:p>
            <a:pPr>
              <a:defRPr sz="1300">
                <a:solidFill>
                  <a:srgbClr val="94A3B8"/>
                </a:solidFill>
              </a:defRPr>
            </a:pPr>
            <a:r>
              <a:t>IDOR 403 Forbidden &amp; Security Verification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343400" y="4023360"/>
            <a:ext cx="3429000" cy="2011680"/>
          </a:xfrm>
          <a:prstGeom prst="roundRect">
            <a:avLst/>
          </a:prstGeom>
          <a:solidFill>
            <a:srgbClr val="131A2A"/>
          </a:solidFill>
          <a:ln>
            <a:solidFill>
              <a:srgbClr val="25314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4572000" y="4251960"/>
            <a:ext cx="2971800" cy="1554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800" b="1">
                <a:solidFill>
                  <a:srgbClr val="00E5FF"/>
                </a:solidFill>
              </a:defRPr>
            </a:pPr>
            <a:r>
              <a:t>✓ Bilingual AI Mentorship</a:t>
            </a:r>
          </a:p>
          <a:p>
            <a:pPr>
              <a:defRPr sz="1300">
                <a:solidFill>
                  <a:srgbClr val="94A3B8"/>
                </a:solidFill>
              </a:defRPr>
            </a:pPr>
            <a:r>
              <a:t>English, Telugu Script &amp; Roman Telugu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955280" y="4023360"/>
            <a:ext cx="3429000" cy="2011680"/>
          </a:xfrm>
          <a:prstGeom prst="roundRect">
            <a:avLst/>
          </a:prstGeom>
          <a:solidFill>
            <a:srgbClr val="131A2A"/>
          </a:solidFill>
          <a:ln>
            <a:solidFill>
              <a:srgbClr val="25314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183880" y="4251960"/>
            <a:ext cx="2971800" cy="1554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800" b="1">
                <a:solidFill>
                  <a:srgbClr val="00E5FF"/>
                </a:solidFill>
              </a:defRPr>
            </a:pPr>
            <a:r>
              <a:t>✓ Production Deployed</a:t>
            </a:r>
          </a:p>
          <a:p>
            <a:pPr>
              <a:defRPr sz="1300">
                <a:solidFill>
                  <a:srgbClr val="94A3B8"/>
                </a:solidFill>
              </a:defRPr>
            </a:pPr>
            <a:r>
              <a:t>Vercel Edge SPA &amp; Render Cloud API Service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0F1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457200"/>
            <a:ext cx="106984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1">
                <a:solidFill>
                  <a:srgbClr val="00E5FF"/>
                </a:solidFill>
              </a:defRPr>
            </a:pPr>
            <a:r>
              <a:t>SUMMARY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777240"/>
            <a:ext cx="106984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800" b="1">
                <a:solidFill>
                  <a:srgbClr val="F8FAFC"/>
                </a:solidFill>
              </a:defRPr>
            </a:pPr>
            <a:r>
              <a:t>Conclusion, Future Horizons &amp; Q&amp;A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1097280" y="1645920"/>
            <a:ext cx="9997135" cy="4480560"/>
          </a:xfrm>
          <a:prstGeom prst="roundRect">
            <a:avLst/>
          </a:prstGeom>
          <a:solidFill>
            <a:srgbClr val="131A2A"/>
          </a:solidFill>
          <a:ln w="19050">
            <a:solidFill>
              <a:srgbClr val="25314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463040" y="1920240"/>
            <a:ext cx="9265615" cy="3931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000" b="1">
                <a:solidFill>
                  <a:srgbClr val="00E5FF"/>
                </a:solidFill>
              </a:defRPr>
            </a:pPr>
            <a:r>
              <a:t>Future Roadmap:</a:t>
            </a:r>
          </a:p>
          <a:p>
            <a:pPr>
              <a:defRPr sz="1400">
                <a:solidFill>
                  <a:srgbClr val="F8FAFC"/>
                </a:solidFill>
              </a:defRPr>
            </a:pPr>
            <a:r>
              <a:t>• AI Voice Mock Interviews: Real-time speech and technical problem-solving analysis.</a:t>
            </a:r>
          </a:p>
          <a:p>
            <a:pPr>
              <a:defRPr sz="1400">
                <a:solidFill>
                  <a:srgbClr val="F8FAFC"/>
                </a:solidFill>
              </a:defRPr>
            </a:pPr>
            <a:r>
              <a:t>• Automated Code Verification: Direct GitHub &amp; LeetCode API integration for continuous skill validation.</a:t>
            </a:r>
          </a:p>
          <a:p>
            <a:pPr>
              <a:defRPr sz="1400">
                <a:solidFill>
                  <a:srgbClr val="F8FAFC"/>
                </a:solidFill>
              </a:defRPr>
            </a:pPr>
            <a:r>
              <a:t>• Multi-Campus Federated Network: Benchmarking placement metrics across peer universities.</a:t>
            </a:r>
          </a:p>
          <a:p>
            <a:pPr>
              <a:defRPr sz="1200">
                <a:solidFill>
                  <a:srgbClr val="25314E"/>
                </a:solidFill>
              </a:defRPr>
            </a:pPr>
            <a:r>
              <a:t>━━━━━━━━━━━━━━━━━━━━━━━━━━━━━━━━━━━━━━━━━━━━━━━━━━━</a:t>
            </a:r>
          </a:p>
          <a:p>
            <a:pPr>
              <a:defRPr sz="2200" b="1">
                <a:solidFill>
                  <a:srgbClr val="A855F7"/>
                </a:solidFill>
              </a:defRPr>
            </a:pPr>
            <a:r>
              <a:t>Thank you! Open for Questions &amp; Discussion.</a:t>
            </a:r>
          </a:p>
          <a:p>
            <a:pPr>
              <a:defRPr sz="1400">
                <a:solidFill>
                  <a:srgbClr val="00E5FF"/>
                </a:solidFill>
              </a:defRPr>
            </a:pPr>
            <a:r>
              <a:t>Developer: Dileep Bommali  |  GitHub: https://github.com/dileepbommali16-ops/pathfinder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